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GridPilot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53312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Convex Optimization for EV Depot Charging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Indian Corporate Fleets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212848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4086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Aaryan Dharrmik  ·  Richard Raju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 ·  CHRIST (Deemed-to-be University), Bangalore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Sincy John  ·  Ideathon 2026  ·  June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8229600" cy="1572768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375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E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SIMULATION RESULTS  ·  STATUS: OPTIMAL  ·  CVXPY + CLARABEL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393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55.1%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041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load reduced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36393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₹8.60L/mo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0" y="4041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saving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36393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2,072 kg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4041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saved/night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36393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600/600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4041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ready 07:00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corporate EV boom is creating a transformer overload crisis at depot level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42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8,420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Haryana EVs in 2022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68,900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Haryana EVs in 2025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+247%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three years  (Vahan MoRTH)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400–700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EVs per corporate depot, NCR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26280" y="1042416"/>
            <a:ext cx="27432" cy="2286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0424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1335024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4,456 kW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simultaneous demand — limit is 4,000 kW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111.4%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transformer utilisation — 3 overloads/night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₹10.5L/month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DVVNL demand charge exposure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software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solves this with Indian data + math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8229600" cy="804672"/>
          </a:xfrm>
          <a:prstGeom prst="rect">
            <a:avLst/>
          </a:prstGeom>
          <a:solidFill>
            <a:srgbClr val="FFF8F0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54787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Confirmed: </a:t>
            </a:r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"Grid constraints in fleet-dense zones — transformer bottlenecks and peak-time loads — curb availability of fast charging where it is most needed."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PV Magazine India, September 2025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Vahan Dashboard MoRTH CY2025  ·  PV Magazine India (2025)  ·  IMARC Engineering India (2026)  ·  DVVNL HT-2 FY2025-26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vehicles differ in battery, charger speed, and arrival time — a timer cannot satisfy all simultaneously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range: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 kWh (Tiago EV) to 59.0 kWh (Mahindra BE6) — 3× difference in energy needed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 range: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kW (Tiago) to 7.4 kW (Nexon/Windsor/ZS) — 2.2× difference in max power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 spread: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return 20:00–22:00 — late arrivals need compressed charge windows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deadline: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vehicle must reach 80% SoC by 07:00 IST or cannot depart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218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Unmanaged demand — no GridPilot  (4,456 kW peaks above 4,000 kW limit):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917290"/>
            <a:ext cx="530352" cy="197510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60704" y="3752698"/>
            <a:ext cx="530352" cy="362102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64208" y="3574938"/>
            <a:ext cx="530352" cy="539862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11" name="Text 9"/>
          <p:cNvSpPr/>
          <p:nvPr/>
        </p:nvSpPr>
        <p:spPr>
          <a:xfrm>
            <a:off x="1664208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67712" y="3489350"/>
            <a:ext cx="530352" cy="62545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2267712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21:30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71216" y="3456432"/>
            <a:ext cx="530352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2871216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22:00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3482767"/>
            <a:ext cx="530352" cy="632033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22:30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78224" y="3535436"/>
            <a:ext cx="530352" cy="579364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19" name="Text 17"/>
          <p:cNvSpPr/>
          <p:nvPr/>
        </p:nvSpPr>
        <p:spPr>
          <a:xfrm>
            <a:off x="4078224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23:00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81728" y="3640775"/>
            <a:ext cx="530352" cy="474025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85232" y="3825118"/>
            <a:ext cx="530352" cy="289682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23" name="Text 21"/>
          <p:cNvSpPr/>
          <p:nvPr/>
        </p:nvSpPr>
        <p:spPr>
          <a:xfrm>
            <a:off x="5285232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88736" y="3930457"/>
            <a:ext cx="530352" cy="184343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25" name="Text 23"/>
          <p:cNvSpPr/>
          <p:nvPr/>
        </p:nvSpPr>
        <p:spPr>
          <a:xfrm>
            <a:off x="5888736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3996294"/>
            <a:ext cx="530352" cy="118506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95744" y="4022628"/>
            <a:ext cx="530352" cy="92172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29" name="Text 27"/>
          <p:cNvSpPr/>
          <p:nvPr/>
        </p:nvSpPr>
        <p:spPr>
          <a:xfrm>
            <a:off x="7095744" y="41513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528852"/>
            <a:ext cx="740664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858000" y="33459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4,000 kW limit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6032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Peak 4,456 kW — overload zone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specs: Vahan Dashboard MoRTH CY2025 · Simulation: CVXPY CLARABEL, status: optimal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convex optimization schedule 600 heterogeneous EVs to a guaranteed global optimum in real time?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1115568"/>
          </a:xfrm>
          <a:prstGeom prst="rect">
            <a:avLst/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43584"/>
            <a:ext cx="7315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 </a:t>
            </a:r>
            <a:pPr algn="l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600 EVs with distinct battery, charger, and arrival time — can a convex QP compute per-vehicle power schedules for 96 timeslots that simultaneously minimise carbon, eliminate overloads, guarantee 07:00 readiness, and reduce DVVNL charges — using only Indian government data?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14016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87168"/>
            <a:ext cx="82296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57,600 variables (600 × 96 slots) — solved simultaneously, not sequentially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objectives: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(α=0.50), peak penalty (β=0.20), delivery guarantee (γ=0.20), DVVNL penalty (δ=0.10)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data: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 v21, Vahan CY2025, DVVNL HT-2 — no equivalent model exists in Indian literature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Optimality: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globally certified solution — CLARABEL returns status: optimal, not an approximation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CVXPY: Diamond &amp; Boyd (2016), JMLR · CLARABEL: Goulart &amp; Chen (2024) arXiv:2212.09460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parameter derives from a published Indian government or peer-reviewed source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42416"/>
            <a:ext cx="173736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8813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042416"/>
            <a:ext cx="82296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7712" y="10881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042416"/>
            <a:ext cx="256032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108813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used in GridPilot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042416"/>
            <a:ext cx="27432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108813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35024"/>
            <a:ext cx="173736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380744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 CO₂ Baseline v21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1335024"/>
            <a:ext cx="82296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1380744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1335024"/>
            <a:ext cx="256032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1380744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0.710 kg CO₂/kWh Haryana annual avg; clean window 0.631; dirty window 0.771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1335024"/>
            <a:ext cx="274320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1380744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Power, India, Nov 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1993392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03911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Vahan Dashboard MoRTH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94560" y="1993392"/>
            <a:ext cx="822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67712" y="2039112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CY2025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17520" y="1993392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2039112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6-model fleet mix: Nexon 27%, Tiago 14%, Windsor 18%, BE6 17%, Curvv 16%, ZS 8% — 600 vehicles total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1993392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03911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MoRTH Jan 2026; EVreporter analysis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651760"/>
            <a:ext cx="173736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69748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ACN-Data (Caltech)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94560" y="2651760"/>
            <a:ext cx="82296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67712" y="269748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2018-20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2651760"/>
            <a:ext cx="256032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0672" y="269748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 time distribution shape only — adapted to 20:00-22:00 depot window. Specs from Vahan fleet.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2651760"/>
            <a:ext cx="274320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269748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Lee, Li &amp; Low, ACM e-Energy 2019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310128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35584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HT-2 Tariff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94560" y="3310128"/>
            <a:ext cx="822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67712" y="3355848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FY2025-26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17520" y="3310128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90672" y="335584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₹350/kVA/month demand charge; 15-min maximum demand window; 5,000 kVA contracted demand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77840" y="3310128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50992" y="335584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UPERC Order Nov 2025 — unchanged 6th year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968496"/>
            <a:ext cx="173736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4014216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94560" y="3968496"/>
            <a:ext cx="82296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67712" y="4014216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017520" y="3968496"/>
            <a:ext cx="256032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90672" y="4014216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Gurugram hourly weather — solar irradiance and temperature for load pattern calibration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77840" y="3968496"/>
            <a:ext cx="2743200" cy="640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014216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open-meteo.com, CC BY 4.0, accessed June 2026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per session: (0.80 − 0.20) × 40.53 kWh avg battery = 24.32 kWh/vehicle — first-principles calculation from fleet specs. Vasudha Foundation calibration factor superseded.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GridPilot minimises four competing objectives subject to hard physical and regulatory constraints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937760" cy="1755648"/>
          </a:xfrm>
          <a:prstGeom prst="rect">
            <a:avLst/>
          </a:prstGeom>
          <a:solidFill>
            <a:srgbClr val="F0F5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97280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function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  α·C(x) + β·P(x) + γ·D(x) + δ·V(x)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C(x) α=0.50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83664" y="1737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— CEA v21 intensity × kWh charged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9933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P(x) β=0.20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83664" y="1993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penalty — Σ max(load[t]−2000, 0)²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2494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D(x) γ=0.20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83664" y="22494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Discomfort — under-delivered energy per vehicle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V(x) δ=0.10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83664" y="25054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penalty — max(peak−4500, 0)×500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4937760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5351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constraints (4)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246120"/>
            <a:ext cx="471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3a:  power[v,t]  ≥  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493008"/>
            <a:ext cx="471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3b:  power[v,t]  ≤  charger_kw[v] × avail[v,t]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739896"/>
            <a:ext cx="471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3c:  Σ_t power[v,t]·Δt  ≥  energy_needed[v] × 0.80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986784"/>
            <a:ext cx="471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3d:  Σ_v power[v,t] + building_load[t]  ≤  5,000 kW  ∀t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specification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14081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14081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CVXPY 1.4.1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18105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18105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CLARABEL interior-point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212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CLARABEL: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22128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ECOS as CVXPY default for QP in v1.4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615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26151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57,600  (600 × 96 slots)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— global minimum proven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419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time: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341985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~3,000ms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3822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API: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38221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~5,500ms (warm server)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CVXPY: Diamond &amp; Boyd, JMLR 2016 · CLARABEL: Goulart &amp; Chen, arXiv:2212.09460, 2024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GridPilot reduces transformer peak load by 55.1%, eliminating all three nightly overload events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42416"/>
            <a:ext cx="5029200" cy="3200400"/>
          </a:xfrm>
          <a:prstGeom prst="rect">
            <a:avLst/>
          </a:prstGeom>
          <a:solidFill>
            <a:srgbClr val="F9FB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9144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3776" y="15544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3776" y="21945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" y="28346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" y="34747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41148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9536" y="1682496"/>
            <a:ext cx="457200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59536" y="14813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kW limit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rot="-4450459">
            <a:off x="859536" y="2834640"/>
            <a:ext cx="731827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Shape 12"/>
          <p:cNvSpPr/>
          <p:nvPr/>
        </p:nvSpPr>
        <p:spPr>
          <a:xfrm rot="-4526080">
            <a:off x="1059114" y="2066544"/>
            <a:ext cx="793601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Shape 13"/>
          <p:cNvSpPr/>
          <p:nvPr/>
        </p:nvSpPr>
        <p:spPr>
          <a:xfrm rot="-4122394">
            <a:off x="1258691" y="1554480"/>
            <a:ext cx="549582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Shape 14"/>
          <p:cNvSpPr/>
          <p:nvPr/>
        </p:nvSpPr>
        <p:spPr>
          <a:xfrm rot="-2356637">
            <a:off x="1458269" y="1391260"/>
            <a:ext cx="257822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Shape 15"/>
          <p:cNvSpPr/>
          <p:nvPr/>
        </p:nvSpPr>
        <p:spPr>
          <a:xfrm rot="811492">
            <a:off x="1657847" y="1391260"/>
            <a:ext cx="20527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Shape 16"/>
          <p:cNvSpPr/>
          <p:nvPr/>
        </p:nvSpPr>
        <p:spPr>
          <a:xfrm rot="2515446">
            <a:off x="1857425" y="1439266"/>
            <a:ext cx="268239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Shape 17"/>
          <p:cNvSpPr/>
          <p:nvPr/>
        </p:nvSpPr>
        <p:spPr>
          <a:xfrm rot="3123808">
            <a:off x="2057002" y="1618488"/>
            <a:ext cx="324628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8"/>
          <p:cNvSpPr/>
          <p:nvPr/>
        </p:nvSpPr>
        <p:spPr>
          <a:xfrm rot="3483134">
            <a:off x="2256580" y="1874520"/>
            <a:ext cx="37717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Shape 19"/>
          <p:cNvSpPr/>
          <p:nvPr/>
        </p:nvSpPr>
        <p:spPr>
          <a:xfrm rot="3123808">
            <a:off x="2456158" y="2194560"/>
            <a:ext cx="324628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Shape 20"/>
          <p:cNvSpPr/>
          <p:nvPr/>
        </p:nvSpPr>
        <p:spPr>
          <a:xfrm rot="3123808">
            <a:off x="2655736" y="2450592"/>
            <a:ext cx="324628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Shape 21"/>
          <p:cNvSpPr/>
          <p:nvPr/>
        </p:nvSpPr>
        <p:spPr>
          <a:xfrm rot="2633696">
            <a:off x="2855313" y="2706624"/>
            <a:ext cx="27695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Shape 22"/>
          <p:cNvSpPr/>
          <p:nvPr/>
        </p:nvSpPr>
        <p:spPr>
          <a:xfrm rot="1960650">
            <a:off x="3054891" y="2898648"/>
            <a:ext cx="23710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Shape 23"/>
          <p:cNvSpPr/>
          <p:nvPr/>
        </p:nvSpPr>
        <p:spPr>
          <a:xfrm rot="1066916">
            <a:off x="3254469" y="3026664"/>
            <a:ext cx="209591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Shape 24"/>
          <p:cNvSpPr/>
          <p:nvPr/>
        </p:nvSpPr>
        <p:spPr>
          <a:xfrm rot="-1066916">
            <a:off x="3454047" y="3026664"/>
            <a:ext cx="209591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Shape 25"/>
          <p:cNvSpPr/>
          <p:nvPr/>
        </p:nvSpPr>
        <p:spPr>
          <a:xfrm rot="1960650">
            <a:off x="3653624" y="3026664"/>
            <a:ext cx="23710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Shape 26"/>
          <p:cNvSpPr/>
          <p:nvPr/>
        </p:nvSpPr>
        <p:spPr>
          <a:xfrm rot="1960650">
            <a:off x="3853202" y="3154680"/>
            <a:ext cx="23710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Shape 27"/>
          <p:cNvSpPr/>
          <p:nvPr/>
        </p:nvSpPr>
        <p:spPr>
          <a:xfrm rot="1066916">
            <a:off x="4052780" y="3282696"/>
            <a:ext cx="209591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Shape 28"/>
          <p:cNvSpPr/>
          <p:nvPr/>
        </p:nvSpPr>
        <p:spPr>
          <a:xfrm rot="1066916">
            <a:off x="4252358" y="3346704"/>
            <a:ext cx="209591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Shape 29"/>
          <p:cNvSpPr/>
          <p:nvPr/>
        </p:nvSpPr>
        <p:spPr>
          <a:xfrm rot="1066916">
            <a:off x="4451935" y="3410712"/>
            <a:ext cx="209591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Shape 30"/>
          <p:cNvSpPr/>
          <p:nvPr/>
        </p:nvSpPr>
        <p:spPr>
          <a:xfrm rot="1066916">
            <a:off x="4651513" y="3474720"/>
            <a:ext cx="209591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Shape 31"/>
          <p:cNvSpPr/>
          <p:nvPr/>
        </p:nvSpPr>
        <p:spPr>
          <a:xfrm rot="1066916">
            <a:off x="4851091" y="3538728"/>
            <a:ext cx="209591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Shape 32"/>
          <p:cNvSpPr/>
          <p:nvPr/>
        </p:nvSpPr>
        <p:spPr>
          <a:xfrm rot="1541465">
            <a:off x="5050669" y="3602736"/>
            <a:ext cx="221471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Shape 33"/>
          <p:cNvSpPr/>
          <p:nvPr/>
        </p:nvSpPr>
        <p:spPr>
          <a:xfrm rot="546618">
            <a:off x="5250246" y="3698748"/>
            <a:ext cx="202128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Shape 34"/>
          <p:cNvSpPr/>
          <p:nvPr/>
        </p:nvSpPr>
        <p:spPr>
          <a:xfrm>
            <a:off x="859536" y="2962656"/>
            <a:ext cx="19957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9114" y="2962656"/>
            <a:ext cx="19957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8" name="Shape 36"/>
          <p:cNvSpPr/>
          <p:nvPr/>
        </p:nvSpPr>
        <p:spPr>
          <a:xfrm>
            <a:off x="1258691" y="2962656"/>
            <a:ext cx="19957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9" name="Shape 37"/>
          <p:cNvSpPr/>
          <p:nvPr/>
        </p:nvSpPr>
        <p:spPr>
          <a:xfrm>
            <a:off x="1458269" y="2962656"/>
            <a:ext cx="19957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0" name="Shape 38"/>
          <p:cNvSpPr/>
          <p:nvPr/>
        </p:nvSpPr>
        <p:spPr>
          <a:xfrm>
            <a:off x="1657847" y="2962656"/>
            <a:ext cx="19957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1" name="Shape 39"/>
          <p:cNvSpPr/>
          <p:nvPr/>
        </p:nvSpPr>
        <p:spPr>
          <a:xfrm>
            <a:off x="1857425" y="2962656"/>
            <a:ext cx="19957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2" name="Shape 40"/>
          <p:cNvSpPr/>
          <p:nvPr/>
        </p:nvSpPr>
        <p:spPr>
          <a:xfrm>
            <a:off x="2057002" y="2962656"/>
            <a:ext cx="19957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3" name="Shape 41"/>
          <p:cNvSpPr/>
          <p:nvPr/>
        </p:nvSpPr>
        <p:spPr>
          <a:xfrm>
            <a:off x="2256580" y="2962656"/>
            <a:ext cx="19957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4" name="Shape 42"/>
          <p:cNvSpPr/>
          <p:nvPr/>
        </p:nvSpPr>
        <p:spPr>
          <a:xfrm>
            <a:off x="2456158" y="2962656"/>
            <a:ext cx="19957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5" name="Shape 43"/>
          <p:cNvSpPr/>
          <p:nvPr/>
        </p:nvSpPr>
        <p:spPr>
          <a:xfrm rot="546618">
            <a:off x="2655736" y="2962656"/>
            <a:ext cx="20212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6" name="Shape 44"/>
          <p:cNvSpPr/>
          <p:nvPr/>
        </p:nvSpPr>
        <p:spPr>
          <a:xfrm rot="546618">
            <a:off x="2855313" y="2994660"/>
            <a:ext cx="20212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7" name="Shape 45"/>
          <p:cNvSpPr/>
          <p:nvPr/>
        </p:nvSpPr>
        <p:spPr>
          <a:xfrm rot="546618">
            <a:off x="3054891" y="3026664"/>
            <a:ext cx="20212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8" name="Shape 46"/>
          <p:cNvSpPr/>
          <p:nvPr/>
        </p:nvSpPr>
        <p:spPr>
          <a:xfrm rot="1066916">
            <a:off x="3254469" y="3058668"/>
            <a:ext cx="209591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9" name="Shape 47"/>
          <p:cNvSpPr/>
          <p:nvPr/>
        </p:nvSpPr>
        <p:spPr>
          <a:xfrm rot="1541465">
            <a:off x="3454047" y="3122676"/>
            <a:ext cx="221471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0" name="Shape 48"/>
          <p:cNvSpPr/>
          <p:nvPr/>
        </p:nvSpPr>
        <p:spPr>
          <a:xfrm rot="1960650">
            <a:off x="3653624" y="3218688"/>
            <a:ext cx="237106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1" name="Shape 49"/>
          <p:cNvSpPr/>
          <p:nvPr/>
        </p:nvSpPr>
        <p:spPr>
          <a:xfrm rot="2633696">
            <a:off x="3853202" y="3346704"/>
            <a:ext cx="276956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2" name="Shape 50"/>
          <p:cNvSpPr/>
          <p:nvPr/>
        </p:nvSpPr>
        <p:spPr>
          <a:xfrm rot="1960650">
            <a:off x="4052780" y="3538728"/>
            <a:ext cx="237106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3" name="Shape 51"/>
          <p:cNvSpPr/>
          <p:nvPr/>
        </p:nvSpPr>
        <p:spPr>
          <a:xfrm rot="1960650">
            <a:off x="4252358" y="3666744"/>
            <a:ext cx="237106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4" name="Shape 52"/>
          <p:cNvSpPr/>
          <p:nvPr/>
        </p:nvSpPr>
        <p:spPr>
          <a:xfrm rot="1960650">
            <a:off x="4451935" y="3794760"/>
            <a:ext cx="237106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5" name="Shape 53"/>
          <p:cNvSpPr/>
          <p:nvPr/>
        </p:nvSpPr>
        <p:spPr>
          <a:xfrm rot="1960650">
            <a:off x="4651513" y="3922776"/>
            <a:ext cx="237106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6" name="Shape 54"/>
          <p:cNvSpPr/>
          <p:nvPr/>
        </p:nvSpPr>
        <p:spPr>
          <a:xfrm rot="1066916">
            <a:off x="4851091" y="4050792"/>
            <a:ext cx="209591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7" name="Shape 55"/>
          <p:cNvSpPr/>
          <p:nvPr/>
        </p:nvSpPr>
        <p:spPr>
          <a:xfrm rot="1066916">
            <a:off x="5050669" y="4114800"/>
            <a:ext cx="209591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8" name="Shape 56"/>
          <p:cNvSpPr/>
          <p:nvPr/>
        </p:nvSpPr>
        <p:spPr>
          <a:xfrm rot="546618">
            <a:off x="5250246" y="4178808"/>
            <a:ext cx="202128" cy="3657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" y="4279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342920" y="4279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22:00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027471" y="4279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712023" y="4279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396575" y="4279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04:00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081126" y="4279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65678" y="4279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14400" y="3840480"/>
            <a:ext cx="256032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7" name="Text 65"/>
          <p:cNvSpPr/>
          <p:nvPr/>
        </p:nvSpPr>
        <p:spPr>
          <a:xfrm>
            <a:off x="1225296" y="3785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GridPilot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651760" y="3840480"/>
            <a:ext cx="25603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9" name="Text 67"/>
          <p:cNvSpPr/>
          <p:nvPr/>
        </p:nvSpPr>
        <p:spPr>
          <a:xfrm>
            <a:off x="2962656" y="3785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GridPilot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645920" y="1078992"/>
            <a:ext cx="1463040" cy="475488"/>
          </a:xfrm>
          <a:prstGeom prst="rect">
            <a:avLst/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55648" y="1152144"/>
            <a:ext cx="12618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4,456 kW peak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111.4% utilisation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5669280" y="1042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5669280" y="1408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4,456 → 2,000 kW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5669280" y="16824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load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66928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55.1%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5669280" y="21945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achieved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669280" y="2432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→ 0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5669280" y="27066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 events/night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566928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111.4% → 50%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5669280" y="32186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utilisation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669280" y="3456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600/600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5669280" y="37307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ready by 07:00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5669280" y="4041648"/>
            <a:ext cx="3017520" cy="530352"/>
          </a:xfrm>
          <a:prstGeom prst="rect">
            <a:avLst/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779008" y="4114800"/>
            <a:ext cx="2816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Overloads are eliminated entirely. Every vehicle charged. DVVNL sees a compliant depot.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CVXPY simulation — Vahan CY2025 fleet · DVVNL HT-2 FY2025-26 · status: optimal (CLARABEL)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GridPilot delivers ₹8.60L/month in verifiable savings and avoids 2,072 kg CO₂ per depot per night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42416"/>
            <a:ext cx="1901952" cy="1005840"/>
          </a:xfrm>
          <a:prstGeom prst="rect">
            <a:avLst/>
          </a:prstGeom>
          <a:solidFill>
            <a:srgbClr val="ED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42416"/>
            <a:ext cx="1901952" cy="54864"/>
          </a:xfrm>
          <a:prstGeom prst="rect">
            <a:avLst/>
          </a:prstGeom>
          <a:solidFill>
            <a:srgbClr val="006D6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3385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₹8.60L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5910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saving/month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charge reduction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57984" y="1042416"/>
            <a:ext cx="1901952" cy="1005840"/>
          </a:xfrm>
          <a:prstGeom prst="rect">
            <a:avLst/>
          </a:prstGeom>
          <a:solidFill>
            <a:srgbClr val="ED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7984" y="1042416"/>
            <a:ext cx="1901952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2249424" y="113385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49424" y="15910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ROI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9424" y="1810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₹8.60L ÷ ₹35,000/mo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15968" y="1042416"/>
            <a:ext cx="1901952" cy="1005840"/>
          </a:xfrm>
          <a:prstGeom prst="rect">
            <a:avLst/>
          </a:prstGeom>
          <a:solidFill>
            <a:srgbClr val="ED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5968" y="1042416"/>
            <a:ext cx="1901952" cy="54864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16" name="Text 14"/>
          <p:cNvSpPr/>
          <p:nvPr/>
        </p:nvSpPr>
        <p:spPr>
          <a:xfrm>
            <a:off x="4407408" y="113385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2,072 kg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07408" y="15910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avoided/night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07408" y="1810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430 trees equivalent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73952" y="1042416"/>
            <a:ext cx="2176272" cy="1005840"/>
          </a:xfrm>
          <a:prstGeom prst="rect">
            <a:avLst/>
          </a:prstGeom>
          <a:solidFill>
            <a:srgbClr val="ED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1042416"/>
            <a:ext cx="2176272" cy="5486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11338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₹3.5 Cr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65392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at 100 depots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65392" y="1810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revenue projection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17627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267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verification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2615184"/>
            <a:ext cx="4114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Unmanaged: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4,456 kW ÷ 0.8 pf = 5,570 kVA × ₹350 = ₹19.5L/month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kW ÷ 0.8 pf = 2,500 kVA × ₹350 = ₹8.75L/month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saving: ₹8.60L/month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verified against DVVNL HT-2 tariff (UPERC Nov 2025). Appears on a government utility bill.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3730752"/>
            <a:ext cx="8229600" cy="228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822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methodology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4133088"/>
            <a:ext cx="4114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window (18:00-22:00): 0.771 kg CO₂/kWh.  Clean window (02:00-05:00): 0.631 kg CO₂/kWh.  Saving = 14,590 kWh × 0.140 = 2,072 kg CO₂/night.  EV at peak hours: 142g CO₂/km — vs petrol 140g/km. GridPilot shifts to clean window: 117g CO₂/km. Makes EVs genuinely cleaner than ICE.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2267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Unmanaged vs managed demand charge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029200" y="2212848"/>
            <a:ext cx="1371600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9751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₹19.5L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3913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Unmanaged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3119750"/>
            <a:ext cx="1371600" cy="739018"/>
          </a:xfrm>
          <a:prstGeom prst="rect">
            <a:avLst/>
          </a:prstGeom>
          <a:solidFill>
            <a:srgbClr val="006D6D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288200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₹8.75L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0" y="3913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Save ₹8.60L 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HT-2 FY2025-26 (UPERC Nov 2025) · CEA CO₂ Baseline v21 FY2024-25 · CCTS 2023 (BEE)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Shifting to the clean window avoids 2,072 kg CO₂/night — making EV fleets genuinely cleaner than ICE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424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Haryana grid carbon intensity profile (CEA v21, 2024-25)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551253" cy="15636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45029" y="1847088"/>
            <a:ext cx="551253" cy="13898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45029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32857" y="2020824"/>
            <a:ext cx="551253" cy="1216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632857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20686" y="1933956"/>
            <a:ext cx="551253" cy="13030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2220686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08514" y="1847088"/>
            <a:ext cx="551253" cy="13898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2808514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22:00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96343" y="2107692"/>
            <a:ext cx="551253" cy="11292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3396343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23:00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84171" y="2281428"/>
            <a:ext cx="551253" cy="955548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18" name="Text 16"/>
          <p:cNvSpPr/>
          <p:nvPr/>
        </p:nvSpPr>
        <p:spPr>
          <a:xfrm>
            <a:off x="3984171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2455164"/>
            <a:ext cx="551253" cy="781812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01:00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59829" y="2628900"/>
            <a:ext cx="551253" cy="608076"/>
          </a:xfrm>
          <a:prstGeom prst="rect">
            <a:avLst/>
          </a:prstGeom>
          <a:solidFill>
            <a:srgbClr val="006D6D"/>
          </a:solidFill>
          <a:ln/>
        </p:spPr>
      </p:sp>
      <p:sp>
        <p:nvSpPr>
          <p:cNvPr id="22" name="Text 20"/>
          <p:cNvSpPr/>
          <p:nvPr/>
        </p:nvSpPr>
        <p:spPr>
          <a:xfrm>
            <a:off x="5159829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47657" y="2715768"/>
            <a:ext cx="551253" cy="521208"/>
          </a:xfrm>
          <a:prstGeom prst="rect">
            <a:avLst/>
          </a:prstGeom>
          <a:solidFill>
            <a:srgbClr val="006D6D"/>
          </a:solidFill>
          <a:ln/>
        </p:spPr>
      </p:sp>
      <p:sp>
        <p:nvSpPr>
          <p:cNvPr id="24" name="Text 22"/>
          <p:cNvSpPr/>
          <p:nvPr/>
        </p:nvSpPr>
        <p:spPr>
          <a:xfrm>
            <a:off x="5747657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35486" y="2802636"/>
            <a:ext cx="551253" cy="434340"/>
          </a:xfrm>
          <a:prstGeom prst="rect">
            <a:avLst/>
          </a:prstGeom>
          <a:solidFill>
            <a:srgbClr val="006D6D"/>
          </a:solidFill>
          <a:ln/>
        </p:spPr>
      </p:sp>
      <p:sp>
        <p:nvSpPr>
          <p:cNvPr id="26" name="Text 24"/>
          <p:cNvSpPr/>
          <p:nvPr/>
        </p:nvSpPr>
        <p:spPr>
          <a:xfrm>
            <a:off x="6335486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04:00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23314" y="2715768"/>
            <a:ext cx="551253" cy="521208"/>
          </a:xfrm>
          <a:prstGeom prst="rect">
            <a:avLst/>
          </a:prstGeom>
          <a:solidFill>
            <a:srgbClr val="006D6D"/>
          </a:solidFill>
          <a:ln/>
        </p:spPr>
      </p:sp>
      <p:sp>
        <p:nvSpPr>
          <p:cNvPr id="28" name="Text 26"/>
          <p:cNvSpPr/>
          <p:nvPr/>
        </p:nvSpPr>
        <p:spPr>
          <a:xfrm>
            <a:off x="6923314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05:00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511143" y="2542032"/>
            <a:ext cx="551253" cy="694944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30" name="Text 28"/>
          <p:cNvSpPr/>
          <p:nvPr/>
        </p:nvSpPr>
        <p:spPr>
          <a:xfrm>
            <a:off x="7511143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98971" y="2368296"/>
            <a:ext cx="551253" cy="868680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32" name="Text 30"/>
          <p:cNvSpPr/>
          <p:nvPr/>
        </p:nvSpPr>
        <p:spPr>
          <a:xfrm>
            <a:off x="8098971" y="3273552"/>
            <a:ext cx="587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15910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DIRTY WINDOW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0.771 kg CO₂/kWh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15910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WINDOW →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0.631 kg CO₂/kWh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49300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584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India's climate targets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7200" y="3913632"/>
            <a:ext cx="8229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 commitment: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reduction in emissions intensity of GDP by 2030 (COP26). More EVs only helps if charging is managed.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GridPilot: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at peak hours — 142g CO₂/km — barely better than petrol at 140g/km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GridPilot: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at clean window — 117g CO₂/km — meaningfully cleaner than ICE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BRSR compliance: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mandates Scope 2 emissions reporting for top 1,000 listed companies. GridPilot provides CEA-based per-session CO₂ data for auditable BRSR filing.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 CO₂ Baseline v21 FY2024-25 · India NDC Update 2022 · SEBI BRSR Circular 2022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5,500ms API latency has a precise five-step breakdown — the solver accounts for 3,000ms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42416"/>
            <a:ext cx="448887" cy="402336"/>
          </a:xfrm>
          <a:prstGeom prst="rect">
            <a:avLst/>
          </a:prstGeom>
          <a:solidFill>
            <a:srgbClr val="7EA9D4"/>
          </a:solidFill>
          <a:ln/>
        </p:spPr>
      </p:sp>
      <p:sp>
        <p:nvSpPr>
          <p:cNvPr id="5" name="Shape 3"/>
          <p:cNvSpPr/>
          <p:nvPr/>
        </p:nvSpPr>
        <p:spPr>
          <a:xfrm>
            <a:off x="906087" y="1042416"/>
            <a:ext cx="598516" cy="402336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6" name="Shape 4"/>
          <p:cNvSpPr/>
          <p:nvPr/>
        </p:nvSpPr>
        <p:spPr>
          <a:xfrm>
            <a:off x="1504604" y="1042416"/>
            <a:ext cx="748145" cy="402336"/>
          </a:xfrm>
          <a:prstGeom prst="rect">
            <a:avLst/>
          </a:prstGeom>
          <a:solidFill>
            <a:srgbClr val="3A6FA0"/>
          </a:solidFill>
          <a:ln/>
        </p:spPr>
      </p:sp>
      <p:sp>
        <p:nvSpPr>
          <p:cNvPr id="7" name="Shape 5"/>
          <p:cNvSpPr/>
          <p:nvPr/>
        </p:nvSpPr>
        <p:spPr>
          <a:xfrm>
            <a:off x="2252749" y="1042416"/>
            <a:ext cx="4488873" cy="40233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Shape 6"/>
          <p:cNvSpPr/>
          <p:nvPr/>
        </p:nvSpPr>
        <p:spPr>
          <a:xfrm>
            <a:off x="6741622" y="1042416"/>
            <a:ext cx="1945178" cy="402336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8132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5,500ms total API (warm Render instance)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27432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8196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773936"/>
            <a:ext cx="137160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81965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1773936"/>
            <a:ext cx="694944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18196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98064" y="1773936"/>
            <a:ext cx="47548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71216" y="1819656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52944" y="1773936"/>
            <a:ext cx="676656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6096" y="18196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048256"/>
            <a:ext cx="27432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093976"/>
            <a:ext cx="146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048256"/>
            <a:ext cx="137160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093976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loading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03120" y="2048256"/>
            <a:ext cx="694944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76272" y="20939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98064" y="2048256"/>
            <a:ext cx="475488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71216" y="2093976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600 EV sessions and battery states from Vahan CY2025 pipeline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52944" y="2048256"/>
            <a:ext cx="676656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6096" y="209397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560320"/>
            <a:ext cx="274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606040"/>
            <a:ext cx="146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2560320"/>
            <a:ext cx="1371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2606040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matrix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03120" y="2560320"/>
            <a:ext cx="69494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6272" y="260604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~400ms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98064" y="2560320"/>
            <a:ext cx="47548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71216" y="2606040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57,600-variable matrix in Python — availability[v,t], energy targets, charger limits per vehicle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52944" y="2560320"/>
            <a:ext cx="67665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6096" y="26060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072384"/>
            <a:ext cx="27432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3118104"/>
            <a:ext cx="146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" y="3072384"/>
            <a:ext cx="137160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311810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handoff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03120" y="3072384"/>
            <a:ext cx="694944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76272" y="311810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~500ms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98064" y="3072384"/>
            <a:ext cx="475488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71216" y="3118104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 constraint matrix and pass to CLARABEL C++ process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52944" y="3072384"/>
            <a:ext cx="676656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26096" y="311810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3584448"/>
            <a:ext cx="274320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3630168"/>
            <a:ext cx="146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" y="3584448"/>
            <a:ext cx="1371600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" y="3630168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CLARABEL solver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03120" y="3584448"/>
            <a:ext cx="694944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76272" y="363016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~3,000ms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98064" y="3584448"/>
            <a:ext cx="4754880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71216" y="3630168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Interior-point optimization — the actual mathematical computation on 57,600 decision variables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552944" y="3584448"/>
            <a:ext cx="676656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26096" y="363016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889504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core math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096512"/>
            <a:ext cx="27432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0352" y="4142232"/>
            <a:ext cx="146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31520" y="4096512"/>
            <a:ext cx="137160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4672" y="4142232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103120" y="4096512"/>
            <a:ext cx="694944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76272" y="41422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~1,300ms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798064" y="4096512"/>
            <a:ext cx="475488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71216" y="4142232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savings calculation, carbon delta, JSON serialization, SQLite write to run history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552944" y="4096512"/>
            <a:ext cx="676656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26096" y="414223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" y="4572000"/>
            <a:ext cx="8229600" cy="402336"/>
          </a:xfrm>
          <a:prstGeom prst="rect">
            <a:avLst/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" y="4645152"/>
            <a:ext cx="80284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path: warm-starting reduces CLARABEL from 3,000ms to ~500ms. Constraint caching cuts matrix build to ~50ms. Target: total API under 2,000ms. Gurobi/MOSEK ≈ $10,000+/year — not justified pre-revenue.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Indian competitor combines per-vehicle optimization, Indian government data, and physics validation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42416"/>
            <a:ext cx="237744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8813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042416"/>
            <a:ext cx="1170432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07792" y="10881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GridPilot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05072" y="1042416"/>
            <a:ext cx="1170432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78224" y="10881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Energy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75504" y="1042416"/>
            <a:ext cx="1170432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656" y="10881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Numocity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45936" y="1042416"/>
            <a:ext cx="1170432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0881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Evoltsoft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16368" y="1042416"/>
            <a:ext cx="1170432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0881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ChargePoint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316736"/>
            <a:ext cx="237744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Per-vehicle convex QP optimizer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1316736"/>
            <a:ext cx="1170432" cy="384048"/>
          </a:xfrm>
          <a:prstGeom prst="rect">
            <a:avLst/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9504" y="13716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CLARABEL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05072" y="1316736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9936" y="13716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75504" y="1316736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3716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45936" y="1316736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3716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16368" y="1316736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13716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1719072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1773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optimality guarantee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34640" y="1719072"/>
            <a:ext cx="1170432" cy="384048"/>
          </a:xfrm>
          <a:prstGeom prst="rect">
            <a:avLst/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504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05072" y="1719072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59936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75504" y="1719072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45936" y="1719072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16368" y="1719072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1232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2121408"/>
            <a:ext cx="237744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demand charge optimization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34640" y="2121408"/>
            <a:ext cx="1170432" cy="384048"/>
          </a:xfrm>
          <a:prstGeom prst="rect">
            <a:avLst/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9504" y="21762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Verified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005072" y="2121408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59936" y="21762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175504" y="2121408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30368" y="21762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45936" y="2121408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21762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16368" y="2121408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1232" y="21762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2523744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 India carbon data (v21)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834640" y="2523744"/>
            <a:ext cx="1170432" cy="384048"/>
          </a:xfrm>
          <a:prstGeom prst="rect">
            <a:avLst/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89504" y="257860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CEA v21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005072" y="2523744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59936" y="257860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175504" y="2523744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30368" y="257860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345936" y="2523744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257860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516368" y="2523744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71232" y="257860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57200" y="2926080"/>
            <a:ext cx="237744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2064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pandapower AC physics validation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834640" y="2926080"/>
            <a:ext cx="1170432" cy="384048"/>
          </a:xfrm>
          <a:prstGeom prst="rect">
            <a:avLst/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89504" y="2980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7-bus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005072" y="2926080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59936" y="2980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175504" y="2926080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30368" y="2980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345936" y="2926080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0" y="2980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516368" y="2926080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71232" y="2980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457200" y="3328416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2064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Per-vehicle departure deadlines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834640" y="3328416"/>
            <a:ext cx="1170432" cy="384048"/>
          </a:xfrm>
          <a:prstGeom prst="rect">
            <a:avLst/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89504" y="3383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07:00 IST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005072" y="3328416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059936" y="3383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5175504" y="3328416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30368" y="3383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345936" y="3328416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0" y="3383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516368" y="3328416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571232" y="3383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457200" y="3730752"/>
            <a:ext cx="2377440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2064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1.6 charger dispatch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2834640" y="3730752"/>
            <a:ext cx="1170432" cy="384048"/>
          </a:xfrm>
          <a:prstGeom prst="rect">
            <a:avLst/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889504" y="37856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005072" y="3730752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059936" y="37856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5175504" y="3730752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230368" y="37856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6345936" y="3730752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00800" y="37856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7516368" y="3730752"/>
            <a:ext cx="1170432" cy="384048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571232" y="37856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457200" y="4133088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2064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BRSR Scope 2 reporting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2834640" y="4133088"/>
            <a:ext cx="1170432" cy="384048"/>
          </a:xfrm>
          <a:prstGeom prst="rect">
            <a:avLst/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889504" y="418795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4005072" y="4133088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059936" y="418795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5175504" y="4133088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230368" y="418795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6345936" y="4133088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400800" y="418795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7516368" y="4133088"/>
            <a:ext cx="11704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71232" y="418795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457200" y="46451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distinction: Evoltsoft's Dynamic Load Management distributes available power proportionally — reactive. GridPilot solves the full night proactively with per-vehicle constraints. These are mathematically different problems with fundamentally different solution quality.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production gaps are acknowledged; each has a defined engineering path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1 — No real-time re-optimization (MPC)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system produces one schedule at 20:00 IST and holds it for the night. A production system uses Model Predictive Control — re-solving every 15 minutes as actual arrivals deviate from predictions.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1353312"/>
            <a:ext cx="2194560" cy="475488"/>
          </a:xfrm>
          <a:prstGeom prst="rect">
            <a:avLst/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1968" y="1426464"/>
            <a:ext cx="199339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Requires live OCPP data pipeline from physical chargers. First paid deployment unlocks this.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2 — CLARABEL runs cold each night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3,000ms solver time could be reduced to ~500ms by warm-starting with yesterday's solution. Constraint caching would further reduce matrix build from 400ms to ~50ms.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2560320"/>
            <a:ext cx="2194560" cy="475488"/>
          </a:xfrm>
          <a:prstGeom prst="rect">
            <a:avLst/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2633472"/>
            <a:ext cx="199339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Custom CVXPY solver callback. Estimated 2–3 weeks of engineering effort.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145536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3 — Prophet forecaster to be upgraded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67328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(Meta 2017) gives MAPE 0.83%. TimesFM (Google Research 2024) — 200M parameter foundation model, 100B datapoint pretraining, zero-shot capable — would yield MAPE &lt; 0.4%.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3767328"/>
            <a:ext cx="2194560" cy="475488"/>
          </a:xfrm>
          <a:prstGeom prst="rect">
            <a:avLst/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3840480"/>
            <a:ext cx="199339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Requires 2GB RAM. Upgrade Render tier ($25/month) at first paying customer.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82296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55.1% peak reduction, verified: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D0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CVXPY + CLARABEL solves 57,600 variables to a globally optimal schedule in 3,000ms — status: optimal, not a heuristic.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₹8.60L/month in demonstrable savings: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D0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on a government DVVNL utility bill — a 24.6× ROI on the ₹35,000/month subscription price.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All parameters from Indian government sources: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D0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 v21 2024-25 · Vahan CY2025 · DVVNL HT-2 FY2025-26 · pandapower physics validation (14 violations → 0).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No Indian competitor matches this combination: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D0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per-vehicle convex QP + Indian data + AC power flow physics. The first real pilot converts simulation to a verified government utility bill.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334256"/>
            <a:ext cx="8229600" cy="36576"/>
          </a:xfrm>
          <a:prstGeom prst="rect">
            <a:avLst/>
          </a:prstGeom>
          <a:solidFill>
            <a:srgbClr val="3A6F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2793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</a:t>
            </a:r>
            <a:pPr algn="l"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depot · you share DVVNL bills · we handle everything else · free pilot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E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github.com/Aaryan658/gridpilot  ·  frontend-nine-virid-4bi7088jda.vercel.app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86384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Electricity Authority. CO₂ Baseline Database for the Indian Power Sector, Version 21.0. Ministry of Power, Government of India. November 2025.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Vahan Dashboard. EV Registration Statistics CY2025. Ministry of Road Transport and Highways. vahan.parivahan.gov.in · EVreporter analysis, January 2026.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Lee, Z.J., Li, T., &amp; Low, S.H. (2019). ACN-Data: Analysis and Applications of an Open EV Charging Dataset. ACM e-Energy 2019, Phoenix, Arizona.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HT-2 Tariff Schedule FY2025-26. Dakshinanchal Vidyut Vitran Nigam Ltd. UPERC Order, November 2025. dvvnl.org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Diamond, S. &amp; Boyd, S. (2016). CVXPY: A Python-Embedded Modeling Language for Convex Optimization. J. Machine Learning Research, 17(83), 1–5.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Goulart, P. &amp; Chen, Y. (2024). CLARABEL: An Interior-Point Solver for Conic Programs with Quadratic Objectives. arXiv:2212.09460.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Historical Weather API. open-meteo.com. Accessed June 2026. CC BY 4.0 Open Data License.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Das, A. et al. (2024). A Decoder-Only Foundation Model for Time-Series Forecasting. Google Research. arXiv:2310.10688.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Magazine India. EV Fleet Charging Infrastructure in India. September 2025. pv-magazine-india.com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UPERC. Tariff Order FY2025-26 for State DISCOMs. Uttar Pradesh Electricity Regulatory Commission. November 2025.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CERC. Demand Response Regulations 2021. Central Electricity Regulatory Commission, New Delhi.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 of Energy Efficiency. Carbon Credit Trading Scheme (CCTS) 2023. Ministry of Power, Government of India.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vehicles chosen as the scale at which the problem becomes undeniable and the math becomes necessary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count sensitivity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64592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1732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size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1371600"/>
            <a:ext cx="182880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4173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Unmanaged peak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371600"/>
            <a:ext cx="182880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05072" y="14173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Overloads/night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371600"/>
            <a:ext cx="15544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141732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saving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1371600"/>
            <a:ext cx="182880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88352" y="14173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645920"/>
            <a:ext cx="164592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69164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vehicles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1645920"/>
            <a:ext cx="182880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169164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3,780 kW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1645920"/>
            <a:ext cx="182880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169164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(no problem)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1645920"/>
            <a:ext cx="155448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169164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₹6.23L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1645920"/>
            <a:ext cx="182880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88352" y="169164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disappears — below 4,000 kW limit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157984"/>
            <a:ext cx="1645920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20370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vehicles 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3120" y="2157984"/>
            <a:ext cx="1828800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2203704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4,456 kW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31920" y="2157984"/>
            <a:ext cx="1828800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2203704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2157984"/>
            <a:ext cx="1554480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220370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₹8.60L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0" y="2157984"/>
            <a:ext cx="1828800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88352" y="2203704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— realistic depot size, clear problem, 111.4% utilisation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2670048"/>
            <a:ext cx="164592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2715768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 vehicles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03120" y="2670048"/>
            <a:ext cx="182880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76272" y="27157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4,794 kW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31920" y="2670048"/>
            <a:ext cx="182880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5072" y="27157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60720" y="2670048"/>
            <a:ext cx="155448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33872" y="2715768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₹9.78L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15200" y="2670048"/>
            <a:ext cx="1828800" cy="493776"/>
          </a:xfrm>
          <a:prstGeom prst="rect">
            <a:avLst/>
          </a:prstGeom>
          <a:solidFill>
            <a:srgbClr val="F0F5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88352" y="271576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but 650 is a less common depot size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182112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32278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vehicles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03120" y="3182112"/>
            <a:ext cx="1828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76272" y="322783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5,132 kW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31920" y="3182112"/>
            <a:ext cx="1828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05072" y="322783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760720" y="3182112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33872" y="322783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₹10.96L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315200" y="3182112"/>
            <a:ext cx="1828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88352" y="322783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5,000 kW transformer safety limit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373075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382219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500: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Vahan CY2025 fleet (larger batteries — BE6 59 kWh, Curvv 55 kWh) means 500 vehicles draw only 3,780 kW — below the transformer limit. The problem vanishes. The optimizer has nothing to fix.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600: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Represents a realistic single-hub corporate depot for operators like Lithium Urban Technologies (3,000+ EVs, 24 hubs). Creates clear problem statement. 111.4% transformer utilisation, 3 overloads.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CVXPY simulation — all runs with Vahan CY2025 fleet · DVVNL HT-2 FY2025-26 · CEA v21 2024-25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timeslots chosen because DVVNL bills in 15-minute windows and OCPP 1.6 dispatches in 15-minute periods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reasons for 15-minute resolution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08176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billing cycle: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HT-2 tariff measures Maximum Demand as the highest average over any 15-minute period in the billing month. GridPilot's 15-minute slots map exactly to what appears on the utility bill — savings are directly verifiable.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OCPP 1.6 protocol standard: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SetChargingProfile in OCPP 1.6 uses 15-minute periods as the de facto standard across Indian charger vendors — Exicom, Tata Power EZ, Statiq. Finer resolution would require firmware support not universally available in Indian deployments.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tractability: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slots × 600 vehicles = 57,600 variables — solved in 3,000ms. At 5-minute slots: 288 × 600 = 172,800 variables — ~27× more computation for marginal accuracy gain. At 30-minute slots: resolution misaligns with DVVNL billing window.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694176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856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15 minutes is not an arbitrary choice — it is the natural resolution determined simultaneously by the utility billing standard, the dominant charger protocol, and the tractability of the optimization problem.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DVVNL HT-2 Tariff FY2025-26 · OCPP 1.6 Specification (Open Charge Alliance) · CVXPY timing benchmarks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answers to likely EV specialist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Why not upgrade the transformer instead?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Upgrade costs ₹70–120 lakh capex. GridPilot costs ₹35,000/month. ROI in under one week. More importantly, a bigger transformer still gets charged on peak demand — upgrading does not reduce the DVVNL demand charge. GridPilot eliminates the peak permanently.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Why target 80% SoC, not 100%?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0428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Li-ion degradation accelerates above 80%. Fleet operators prefer 80% for battery longevity. The CC-CV transition above 80% is slow. 80% provides sufficient range for Indian city operations with a safety buffer.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Does GridPilot model battery State of Health (SoH)?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55264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No — known gap. Current model tracks SoC per session but not SoH degradation over time. In production, BMS reports actual available capacity via OCPP. The optimizer framework supports this — it requires a BMS data feed.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Does GridPilot support V2G?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Yes — implemented in v2g.py. Only MG Windsor EV (108 vehicles in fleet) supports V2G in India currently. Excluded from default run because DVVNL has no V2G feed-in tariff yet. When regulatory framework resolves (~2026), enable with one config flag.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7731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GridPilot: Convex Optimization for EV Depot Charging</dc:title>
  <dc:subject>PptxGenJS Presentation</dc:subject>
  <dc:creator>A. Aaryan Dharrmik, Richard Raju</dc:creator>
  <cp:lastModifiedBy>A. Aaryan Dharrmik, Richard Raju</cp:lastModifiedBy>
  <cp:revision>1</cp:revision>
  <dcterms:created xsi:type="dcterms:W3CDTF">2026-06-14T15:06:22Z</dcterms:created>
  <dcterms:modified xsi:type="dcterms:W3CDTF">2026-06-14T15:06:22Z</dcterms:modified>
</cp:coreProperties>
</file>